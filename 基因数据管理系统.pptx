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62" r:id="rId6"/>
    <p:sldId id="263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F091BE4-89E5-4AC6-8B28-F46854F1DD67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3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基因数据管理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825" y="147320"/>
            <a:ext cx="5673090" cy="659765"/>
          </a:xfrm>
        </p:spPr>
        <p:txBody>
          <a:bodyPr>
            <a:normAutofit/>
          </a:bodyPr>
          <a:p>
            <a:r>
              <a:rPr lang="zh-CN" altLang="en-US" sz="2220"/>
              <a:t>完善计划</a:t>
            </a:r>
            <a:r>
              <a:rPr lang="zh-CN" altLang="en-US" sz="2220"/>
              <a:t>清单</a:t>
            </a:r>
            <a:endParaRPr lang="zh-CN" altLang="en-US" sz="2220"/>
          </a:p>
        </p:txBody>
      </p:sp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1543050" y="1803400"/>
            <a:ext cx="6992620" cy="222821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fontAlgn="ctr">
              <a:lnSpc>
                <a:spcPct val="130000"/>
              </a:lnSpc>
              <a:spcBef>
                <a:spcPts val="2465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Job1:原始数据分级（基于genome.fasta的gap数据特征）</a:t>
            </a:r>
            <a:endParaRPr lang="zh-CN" altLang="en-US" sz="1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465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job2:Sequencing data (新增原始测序数据列，超链接到NCBI等数据库)</a:t>
            </a:r>
            <a:endParaRPr lang="zh-CN" altLang="en-US" sz="1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465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Job3:Genome Card页面开发</a:t>
            </a:r>
            <a:endParaRPr lang="zh-CN" altLang="en-US" sz="1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465"/>
              </a:spcBef>
              <a:spcAft>
                <a:spcPts val="0"/>
              </a:spcAft>
              <a:buSzPct val="100000"/>
              <a:buNone/>
            </a:pPr>
            <a:r>
              <a:rPr lang="zh-CN" altLang="en-US" sz="160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Job4:Accession =&gt; 多个Assembly =&gt; 多个Annotation?</a:t>
            </a:r>
            <a:endParaRPr lang="zh-CN" altLang="en-US" sz="160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825" y="147320"/>
            <a:ext cx="5673090" cy="659765"/>
          </a:xfrm>
        </p:spPr>
        <p:txBody>
          <a:bodyPr>
            <a:normAutofit/>
          </a:bodyPr>
          <a:p>
            <a:r>
              <a:rPr lang="en-US" altLang="zh-CN" sz="2220">
                <a:latin typeface="+mj-ea"/>
                <a:cs typeface="+mj-ea"/>
              </a:rPr>
              <a:t>Job1-</a:t>
            </a:r>
            <a:r>
              <a:rPr lang="zh-CN" altLang="en-US" sz="2220">
                <a:latin typeface="+mj-ea"/>
                <a:cs typeface="+mj-ea"/>
              </a:rPr>
              <a:t>原始数据分</a:t>
            </a:r>
            <a:r>
              <a:rPr lang="zh-CN" altLang="en-US" sz="2220">
                <a:latin typeface="+mj-ea"/>
                <a:cs typeface="+mj-ea"/>
              </a:rPr>
              <a:t>级（基于</a:t>
            </a:r>
            <a:r>
              <a:rPr lang="en-US" altLang="zh-CN" sz="2220">
                <a:latin typeface="+mj-ea"/>
                <a:cs typeface="+mj-ea"/>
              </a:rPr>
              <a:t>genome.fasta</a:t>
            </a:r>
            <a:r>
              <a:rPr lang="zh-CN" altLang="en-US" sz="2220">
                <a:latin typeface="+mj-ea"/>
                <a:cs typeface="+mj-ea"/>
              </a:rPr>
              <a:t>）</a:t>
            </a:r>
            <a:endParaRPr lang="zh-CN" altLang="en-US" sz="2220">
              <a:latin typeface="+mj-ea"/>
              <a:cs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705" y="866140"/>
            <a:ext cx="83185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+mj-ea"/>
                <a:ea typeface="+mj-ea"/>
                <a:cs typeface="+mj-ea"/>
              </a:rPr>
              <a:t>1</a:t>
            </a:r>
            <a:r>
              <a:rPr lang="zh-CN" altLang="en-US">
                <a:latin typeface="+mj-ea"/>
                <a:ea typeface="+mj-ea"/>
                <a:cs typeface="+mj-ea"/>
              </a:rPr>
              <a:t>，选取指标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endParaRPr lang="zh-CN" altLang="en-US">
              <a:latin typeface="+mj-ea"/>
              <a:ea typeface="+mj-ea"/>
              <a:cs typeface="+mj-ea"/>
            </a:endParaRPr>
          </a:p>
          <a:p>
            <a:r>
              <a:rPr lang="en-US" altLang="zh-CN">
                <a:latin typeface="+mj-ea"/>
                <a:ea typeface="+mj-ea"/>
                <a:cs typeface="+mj-ea"/>
              </a:rPr>
              <a:t>     gap</a:t>
            </a:r>
            <a:r>
              <a:rPr lang="zh-CN" altLang="en-US">
                <a:latin typeface="+mj-ea"/>
                <a:ea typeface="+mj-ea"/>
                <a:cs typeface="+mj-ea"/>
              </a:rPr>
              <a:t>的数目：</a:t>
            </a:r>
            <a:r>
              <a:rPr lang="en-US" altLang="zh-CN">
                <a:latin typeface="+mj-ea"/>
                <a:ea typeface="+mj-ea"/>
                <a:cs typeface="+mj-ea"/>
              </a:rPr>
              <a:t>gap_Count , T2T</a:t>
            </a:r>
            <a:r>
              <a:rPr lang="zh-CN" altLang="en-US">
                <a:latin typeface="+mj-ea"/>
                <a:ea typeface="+mj-ea"/>
                <a:cs typeface="+mj-ea"/>
              </a:rPr>
              <a:t>水平的染色体数目：</a:t>
            </a:r>
            <a:r>
              <a:rPr lang="en-US" altLang="zh-CN">
                <a:latin typeface="+mj-ea"/>
                <a:ea typeface="+mj-ea"/>
                <a:cs typeface="+mj-ea"/>
              </a:rPr>
              <a:t>T2T_chr_Count</a:t>
            </a:r>
            <a:endParaRPr lang="en-US" altLang="zh-CN">
              <a:latin typeface="+mj-ea"/>
              <a:ea typeface="+mj-ea"/>
              <a:cs typeface="+mj-ea"/>
            </a:endParaRPr>
          </a:p>
          <a:p>
            <a:endParaRPr lang="en-US" altLang="zh-CN">
              <a:latin typeface="+mj-ea"/>
              <a:ea typeface="+mj-ea"/>
              <a:cs typeface="+mj-ea"/>
            </a:endParaRPr>
          </a:p>
          <a:p>
            <a:r>
              <a:rPr lang="en-US" altLang="zh-CN">
                <a:latin typeface="+mj-ea"/>
                <a:ea typeface="+mj-ea"/>
                <a:cs typeface="+mj-ea"/>
              </a:rPr>
              <a:t>2</a:t>
            </a:r>
            <a:r>
              <a:rPr lang="zh-CN" altLang="en-US">
                <a:latin typeface="+mj-ea"/>
                <a:ea typeface="+mj-ea"/>
                <a:cs typeface="+mj-ea"/>
              </a:rPr>
              <a:t>，</a:t>
            </a:r>
            <a:r>
              <a:rPr lang="en-US" altLang="zh-CN">
                <a:latin typeface="+mj-ea"/>
                <a:ea typeface="+mj-ea"/>
                <a:cs typeface="+mj-ea"/>
              </a:rPr>
              <a:t>level</a:t>
            </a:r>
            <a:r>
              <a:rPr lang="zh-CN" altLang="en-US">
                <a:latin typeface="+mj-ea"/>
                <a:ea typeface="+mj-ea"/>
                <a:cs typeface="+mj-ea"/>
              </a:rPr>
              <a:t>标准</a:t>
            </a:r>
            <a:endParaRPr lang="zh-CN" altLang="en-US">
              <a:latin typeface="+mj-ea"/>
              <a:ea typeface="+mj-ea"/>
              <a:cs typeface="+mj-ea"/>
            </a:endParaRPr>
          </a:p>
          <a:p>
            <a:pPr indent="457200"/>
            <a:endParaRPr lang="zh-CN" altLang="en-US">
              <a:latin typeface="+mj-ea"/>
              <a:ea typeface="+mj-ea"/>
              <a:cs typeface="+mj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00125" y="2499995"/>
          <a:ext cx="6385560" cy="1828800"/>
        </p:xfrm>
        <a:graphic>
          <a:graphicData uri="http://schemas.openxmlformats.org/drawingml/2006/table">
            <a:tbl>
              <a:tblPr firstRow="1" bandRow="1">
                <a:tableStyleId>{FF091BE4-89E5-4AC6-8B28-F46854F1DD67}</a:tableStyleId>
              </a:tblPr>
              <a:tblGrid>
                <a:gridCol w="1046480"/>
                <a:gridCol w="53390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Level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标准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level_1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gap_Count &lt;= 12 ; T2T_chr_Count &gt;= 6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level_2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gap_Count &lt;= 12 ;  1 &lt;=  T2T_chr_Count &lt;= 6</a:t>
                      </a:r>
                      <a:endParaRPr lang="en-US" altLang="zh-CN" sz="18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level_3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 &lt;= gap_Count &lt;= 24 </a:t>
                      </a:r>
                      <a:endParaRPr lang="en-US" altLang="zh-CN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level_4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gap_Count &gt; 24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825" y="147320"/>
            <a:ext cx="5673090" cy="659765"/>
          </a:xfrm>
        </p:spPr>
        <p:txBody>
          <a:bodyPr>
            <a:normAutofit/>
          </a:bodyPr>
          <a:p>
            <a:r>
              <a:rPr lang="en-US" altLang="zh-CN" sz="2220">
                <a:latin typeface="+mj-ea"/>
                <a:cs typeface="+mj-ea"/>
              </a:rPr>
              <a:t>Job2-</a:t>
            </a:r>
            <a:r>
              <a:rPr lang="zh-CN" altLang="en-US" sz="2220">
                <a:latin typeface="+mj-ea"/>
                <a:cs typeface="+mj-ea"/>
              </a:rPr>
              <a:t>新增</a:t>
            </a:r>
            <a:r>
              <a:rPr lang="en-US" altLang="zh-CN" sz="2220">
                <a:latin typeface="+mj-ea"/>
                <a:cs typeface="+mj-ea"/>
              </a:rPr>
              <a:t> </a:t>
            </a:r>
            <a:r>
              <a:rPr lang="zh-CN" altLang="en-US" sz="222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Sequencing data</a:t>
            </a:r>
            <a:r>
              <a:rPr lang="en-US" altLang="zh-CN" sz="222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22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列</a:t>
            </a:r>
            <a:endParaRPr lang="zh-CN" altLang="en-US" sz="222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085" y="1051560"/>
            <a:ext cx="10831830" cy="535495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705100" y="2065020"/>
            <a:ext cx="854075" cy="380238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378960" y="2065020"/>
            <a:ext cx="815975" cy="380238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 useBgFill="1">
        <p:nvSpPr>
          <p:cNvPr id="5" name="矩形 4"/>
          <p:cNvSpPr/>
          <p:nvPr/>
        </p:nvSpPr>
        <p:spPr>
          <a:xfrm>
            <a:off x="4450080" y="1148080"/>
            <a:ext cx="5575935" cy="530606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07720" y="1021080"/>
            <a:ext cx="9448800" cy="55397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336800" y="1303655"/>
            <a:ext cx="1196975" cy="2146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MH63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36800" y="1659255"/>
            <a:ext cx="1196975" cy="2146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chr1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377825" y="147320"/>
            <a:ext cx="5673090" cy="659765"/>
          </a:xfrm>
        </p:spPr>
        <p:txBody>
          <a:bodyPr>
            <a:normAutofit/>
          </a:bodyPr>
          <a:p>
            <a:r>
              <a:rPr lang="zh-CN" altLang="en-US" sz="2220" spc="30" dirty="0">
                <a:ln w="3175">
                  <a:noFill/>
                  <a:prstDash val="dash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Job3:Genome Card页面开发</a:t>
            </a:r>
            <a:endParaRPr lang="zh-CN" altLang="en-US" sz="2220" spc="30" dirty="0">
              <a:ln w="3175">
                <a:noFill/>
                <a:prstDash val="dash"/>
              </a:ln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2515" y="1226185"/>
            <a:ext cx="1066165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Accession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1072515" y="1581785"/>
            <a:ext cx="138557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Chromosome</a:t>
            </a:r>
            <a:endParaRPr lang="en-US" altLang="zh-CN" sz="1600"/>
          </a:p>
        </p:txBody>
      </p:sp>
      <p:sp>
        <p:nvSpPr>
          <p:cNvPr id="13" name="文本框 12"/>
          <p:cNvSpPr txBox="1"/>
          <p:nvPr/>
        </p:nvSpPr>
        <p:spPr>
          <a:xfrm>
            <a:off x="1072515" y="1953260"/>
            <a:ext cx="133985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Genome size:</a:t>
            </a:r>
            <a:endParaRPr lang="en-US" altLang="zh-CN" sz="1600"/>
          </a:p>
        </p:txBody>
      </p:sp>
      <p:sp>
        <p:nvSpPr>
          <p:cNvPr id="14" name="文本框 13"/>
          <p:cNvSpPr txBox="1"/>
          <p:nvPr/>
        </p:nvSpPr>
        <p:spPr>
          <a:xfrm>
            <a:off x="1072515" y="2324735"/>
            <a:ext cx="85217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Chr len:</a:t>
            </a:r>
            <a:endParaRPr lang="en-US" altLang="zh-CN" sz="1600"/>
          </a:p>
        </p:txBody>
      </p:sp>
      <p:sp>
        <p:nvSpPr>
          <p:cNvPr id="15" name="文本框 14"/>
          <p:cNvSpPr txBox="1"/>
          <p:nvPr/>
        </p:nvSpPr>
        <p:spPr>
          <a:xfrm>
            <a:off x="1072515" y="2696210"/>
            <a:ext cx="85217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TEs size:</a:t>
            </a:r>
            <a:endParaRPr lang="en-US" altLang="zh-CN" sz="1600"/>
          </a:p>
        </p:txBody>
      </p:sp>
      <p:sp>
        <p:nvSpPr>
          <p:cNvPr id="16" name="矩形 15"/>
          <p:cNvSpPr/>
          <p:nvPr/>
        </p:nvSpPr>
        <p:spPr>
          <a:xfrm>
            <a:off x="1171575" y="3810635"/>
            <a:ext cx="2728595" cy="25609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72515" y="3115310"/>
            <a:ext cx="85217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TEs size:</a:t>
            </a:r>
            <a:endParaRPr lang="en-US" altLang="zh-CN" sz="1600"/>
          </a:p>
        </p:txBody>
      </p:sp>
      <p:sp>
        <p:nvSpPr>
          <p:cNvPr id="19" name="文本框 18"/>
          <p:cNvSpPr txBox="1"/>
          <p:nvPr/>
        </p:nvSpPr>
        <p:spPr>
          <a:xfrm>
            <a:off x="1072515" y="3465830"/>
            <a:ext cx="128587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altLang="zh-CN" sz="1600">
                <a:sym typeface="+mn-ea"/>
              </a:rPr>
              <a:t>Remarks：</a:t>
            </a:r>
            <a:endParaRPr lang="zh-CN" altLang="en-US" sz="1600"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25525" y="1148080"/>
            <a:ext cx="2935605" cy="53066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8953500" y="1676400"/>
            <a:ext cx="76200" cy="755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063355" y="1637665"/>
            <a:ext cx="326390" cy="213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TEs</a:t>
            </a:r>
            <a:endParaRPr lang="en-US" altLang="zh-CN" sz="800"/>
          </a:p>
        </p:txBody>
      </p:sp>
      <p:sp>
        <p:nvSpPr>
          <p:cNvPr id="26" name="等腰三角形 25"/>
          <p:cNvSpPr/>
          <p:nvPr/>
        </p:nvSpPr>
        <p:spPr>
          <a:xfrm>
            <a:off x="8954135" y="1905000"/>
            <a:ext cx="75565" cy="75565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8872220" y="1226185"/>
            <a:ext cx="1106805" cy="183007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735060" y="1226185"/>
            <a:ext cx="1225550" cy="292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sym typeface="+mn-ea"/>
              </a:rPr>
              <a:t>display</a:t>
            </a:r>
            <a:endParaRPr lang="en-US" altLang="zh-CN" sz="1600"/>
          </a:p>
        </p:txBody>
      </p:sp>
      <p:sp>
        <p:nvSpPr>
          <p:cNvPr id="29" name="文本框 28"/>
          <p:cNvSpPr txBox="1"/>
          <p:nvPr/>
        </p:nvSpPr>
        <p:spPr>
          <a:xfrm>
            <a:off x="9063355" y="1851025"/>
            <a:ext cx="688340" cy="231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/>
              <a:t>Centromere</a:t>
            </a:r>
            <a:endParaRPr lang="en-US" altLang="zh-CN" sz="800"/>
          </a:p>
        </p:txBody>
      </p:sp>
      <p:sp>
        <p:nvSpPr>
          <p:cNvPr id="30" name="矩形 29"/>
          <p:cNvSpPr/>
          <p:nvPr/>
        </p:nvSpPr>
        <p:spPr>
          <a:xfrm>
            <a:off x="9745980" y="1714500"/>
            <a:ext cx="75565" cy="755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646920" y="1622425"/>
            <a:ext cx="260350" cy="227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+mn-ea"/>
                <a:cs typeface="Times New Roman" panose="02020603050405020304" charset="0"/>
              </a:rPr>
              <a:t>√</a:t>
            </a:r>
            <a:endParaRPr lang="en-US" altLang="zh-CN" sz="1000" b="1">
              <a:latin typeface="+mn-ea"/>
              <a:cs typeface="Times New Roman" panose="0202060305040502030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9743440" y="1917700"/>
            <a:ext cx="75565" cy="755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1" name="组合 90"/>
          <p:cNvGrpSpPr/>
          <p:nvPr/>
        </p:nvGrpSpPr>
        <p:grpSpPr>
          <a:xfrm>
            <a:off x="4850130" y="1885315"/>
            <a:ext cx="3698240" cy="2825115"/>
            <a:chOff x="7944" y="3292"/>
            <a:chExt cx="4360" cy="3298"/>
          </a:xfrm>
        </p:grpSpPr>
        <p:grpSp>
          <p:nvGrpSpPr>
            <p:cNvPr id="92" name="组合 91"/>
            <p:cNvGrpSpPr/>
            <p:nvPr/>
          </p:nvGrpSpPr>
          <p:grpSpPr>
            <a:xfrm rot="0">
              <a:off x="7980" y="3292"/>
              <a:ext cx="4300" cy="420"/>
              <a:chOff x="7980" y="3292"/>
              <a:chExt cx="4300" cy="420"/>
            </a:xfrm>
          </p:grpSpPr>
          <p:cxnSp>
            <p:nvCxnSpPr>
              <p:cNvPr id="93" name="直接连接符 92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4" name="弧形 93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95" name="组合 94"/>
            <p:cNvGrpSpPr/>
            <p:nvPr/>
          </p:nvGrpSpPr>
          <p:grpSpPr>
            <a:xfrm rot="10800000">
              <a:off x="7944" y="4057"/>
              <a:ext cx="4300" cy="420"/>
              <a:chOff x="7980" y="3292"/>
              <a:chExt cx="4300" cy="420"/>
            </a:xfrm>
          </p:grpSpPr>
          <p:cxnSp>
            <p:nvCxnSpPr>
              <p:cNvPr id="96" name="直接连接符 95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弧形 96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98" name="直接连接符 97"/>
            <p:cNvCxnSpPr/>
            <p:nvPr/>
          </p:nvCxnSpPr>
          <p:spPr>
            <a:xfrm flipV="1">
              <a:off x="7977" y="3616"/>
              <a:ext cx="4272" cy="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9" name="组合 98"/>
            <p:cNvGrpSpPr/>
            <p:nvPr/>
          </p:nvGrpSpPr>
          <p:grpSpPr>
            <a:xfrm rot="10800000">
              <a:off x="7956" y="3524"/>
              <a:ext cx="4300" cy="420"/>
              <a:chOff x="7980" y="3292"/>
              <a:chExt cx="4300" cy="420"/>
            </a:xfrm>
          </p:grpSpPr>
          <p:cxnSp>
            <p:nvCxnSpPr>
              <p:cNvPr id="100" name="直接连接符 99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1" name="弧形 100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 rot="10800000" flipH="1">
              <a:off x="7972" y="3774"/>
              <a:ext cx="4300" cy="420"/>
              <a:chOff x="7980" y="3292"/>
              <a:chExt cx="4300" cy="420"/>
            </a:xfrm>
          </p:grpSpPr>
          <p:cxnSp>
            <p:nvCxnSpPr>
              <p:cNvPr id="103" name="直接连接符 102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4" name="弧形 103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5" name="弧形 104"/>
            <p:cNvSpPr/>
            <p:nvPr/>
          </p:nvSpPr>
          <p:spPr>
            <a:xfrm rot="2220000">
              <a:off x="11962" y="4361"/>
              <a:ext cx="343" cy="42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06" name="组合 105"/>
            <p:cNvGrpSpPr/>
            <p:nvPr/>
          </p:nvGrpSpPr>
          <p:grpSpPr>
            <a:xfrm rot="10800000">
              <a:off x="7968" y="5108"/>
              <a:ext cx="4300" cy="420"/>
              <a:chOff x="7980" y="3292"/>
              <a:chExt cx="4300" cy="420"/>
            </a:xfrm>
          </p:grpSpPr>
          <p:cxnSp>
            <p:nvCxnSpPr>
              <p:cNvPr id="107" name="直接连接符 106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8" name="弧形 107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09" name="直接连接符 108"/>
            <p:cNvCxnSpPr/>
            <p:nvPr/>
          </p:nvCxnSpPr>
          <p:spPr>
            <a:xfrm flipV="1">
              <a:off x="8001" y="4685"/>
              <a:ext cx="4272" cy="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10" name="组合 109"/>
            <p:cNvGrpSpPr/>
            <p:nvPr/>
          </p:nvGrpSpPr>
          <p:grpSpPr>
            <a:xfrm rot="10800000">
              <a:off x="7980" y="4593"/>
              <a:ext cx="4300" cy="420"/>
              <a:chOff x="7980" y="3292"/>
              <a:chExt cx="4300" cy="420"/>
            </a:xfrm>
          </p:grpSpPr>
          <p:cxnSp>
            <p:nvCxnSpPr>
              <p:cNvPr id="111" name="直接连接符 110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2" name="弧形 111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3" name="组合 112"/>
            <p:cNvGrpSpPr/>
            <p:nvPr/>
          </p:nvGrpSpPr>
          <p:grpSpPr>
            <a:xfrm rot="10800000" flipH="1">
              <a:off x="7996" y="4843"/>
              <a:ext cx="4300" cy="420"/>
              <a:chOff x="7980" y="3292"/>
              <a:chExt cx="4300" cy="420"/>
            </a:xfrm>
          </p:grpSpPr>
          <p:cxnSp>
            <p:nvCxnSpPr>
              <p:cNvPr id="114" name="直接连接符 113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5" name="弧形 114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16" name="弧形 115"/>
            <p:cNvSpPr/>
            <p:nvPr/>
          </p:nvSpPr>
          <p:spPr>
            <a:xfrm rot="2220000">
              <a:off x="11962" y="5405"/>
              <a:ext cx="343" cy="421"/>
            </a:xfrm>
            <a:prstGeom prst="arc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7" name="组合 116"/>
            <p:cNvGrpSpPr/>
            <p:nvPr/>
          </p:nvGrpSpPr>
          <p:grpSpPr>
            <a:xfrm rot="10800000">
              <a:off x="7968" y="6170"/>
              <a:ext cx="4300" cy="420"/>
              <a:chOff x="7980" y="3292"/>
              <a:chExt cx="4300" cy="420"/>
            </a:xfrm>
          </p:grpSpPr>
          <p:cxnSp>
            <p:nvCxnSpPr>
              <p:cNvPr id="118" name="直接连接符 117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19" name="弧形 118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20" name="直接连接符 119"/>
            <p:cNvCxnSpPr/>
            <p:nvPr/>
          </p:nvCxnSpPr>
          <p:spPr>
            <a:xfrm flipV="1">
              <a:off x="8001" y="5729"/>
              <a:ext cx="4272" cy="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1" name="组合 120"/>
            <p:cNvGrpSpPr/>
            <p:nvPr/>
          </p:nvGrpSpPr>
          <p:grpSpPr>
            <a:xfrm rot="10800000">
              <a:off x="7980" y="5637"/>
              <a:ext cx="4300" cy="420"/>
              <a:chOff x="7980" y="3292"/>
              <a:chExt cx="4300" cy="420"/>
            </a:xfrm>
          </p:grpSpPr>
          <p:cxnSp>
            <p:nvCxnSpPr>
              <p:cNvPr id="122" name="直接连接符 121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3" name="弧形 122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 rot="10800000" flipH="1">
              <a:off x="7996" y="5887"/>
              <a:ext cx="4300" cy="420"/>
              <a:chOff x="7980" y="3292"/>
              <a:chExt cx="4300" cy="420"/>
            </a:xfrm>
          </p:grpSpPr>
          <p:cxnSp>
            <p:nvCxnSpPr>
              <p:cNvPr id="125" name="直接连接符 124"/>
              <p:cNvCxnSpPr/>
              <p:nvPr/>
            </p:nvCxnSpPr>
            <p:spPr>
              <a:xfrm flipV="1">
                <a:off x="7980" y="3336"/>
                <a:ext cx="4272" cy="1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6" name="弧形 125"/>
              <p:cNvSpPr/>
              <p:nvPr/>
            </p:nvSpPr>
            <p:spPr>
              <a:xfrm rot="2220000">
                <a:off x="11938" y="3292"/>
                <a:ext cx="343" cy="421"/>
              </a:xfrm>
              <a:prstGeom prst="arc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127" name="矩形 126"/>
          <p:cNvSpPr/>
          <p:nvPr/>
        </p:nvSpPr>
        <p:spPr>
          <a:xfrm>
            <a:off x="5916295" y="2127885"/>
            <a:ext cx="360000" cy="755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矩形 127"/>
          <p:cNvSpPr/>
          <p:nvPr/>
        </p:nvSpPr>
        <p:spPr>
          <a:xfrm>
            <a:off x="6154420" y="3281045"/>
            <a:ext cx="76200" cy="755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矩形 128"/>
          <p:cNvSpPr/>
          <p:nvPr/>
        </p:nvSpPr>
        <p:spPr>
          <a:xfrm>
            <a:off x="7189470" y="3712210"/>
            <a:ext cx="648000" cy="755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EXTBOXSTYLE_SHAPETYPE" val="0"/>
  <p:tag name="KSO_WM_UNIT_HIGHLIGHT" val="0"/>
  <p:tag name="KSO_WM_UNIT_COMPATIBLE" val="0"/>
  <p:tag name="KSO_WM_UNIT_DIAGRAM_ISNUMVISUAL" val="0"/>
  <p:tag name="KSO_WM_UNIT_DIAGRAM_ISREFERUNIT" val="0"/>
  <p:tag name="KSO_WM_UNIT_ID" val="mixed20202316_1*f*1"/>
  <p:tag name="KSO_WM_TEMPLATE_CATEGORY" val="mixed"/>
  <p:tag name="KSO_WM_TEMPLATE_INDEX" val="20202316"/>
  <p:tag name="KSO_WM_UNIT_LAYERLEVEL" val="1"/>
  <p:tag name="KSO_WM_TAG_VERSION" val="1.0"/>
  <p:tag name="KSO_WM_BEAUTIFY_FLAG" val="#wm#"/>
  <p:tag name="KSO_WM_UNIT_TEXTBOXSTYLE_TEMPLATETYPE" val="8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VALUE" val="252"/>
  <p:tag name="KSO_WM_UNIT_TYPE" val="f"/>
  <p:tag name="KSO_WM_UNIT_INDEX" val="1"/>
  <p:tag name="KSO_WM_UNIT_TEXTBOXSTYLE_GUID" val="{a8489117-8d6f-454d-90eb-42f391d04bb3}"/>
  <p:tag name="KSO_WM_UNIT_TEXTBOXSTYLE_TEMPLATEID" val="3139430"/>
  <p:tag name="KSO_WM_UNIT_TEXTBOXSTYLE_TYPE" val="8"/>
</p:tagLst>
</file>

<file path=ppt/tags/tag2.xml><?xml version="1.0" encoding="utf-8"?>
<p:tagLst xmlns:p="http://schemas.openxmlformats.org/presentationml/2006/main">
  <p:tag name="TABLE_ENDDRAG_ORIGIN_RECT" val="502*54"/>
  <p:tag name="TABLE_ENDDRAG_RECT" val="78*196*502*54"/>
</p:tagLst>
</file>

<file path=ppt/tags/tag3.xml><?xml version="1.0" encoding="utf-8"?>
<p:tagLst xmlns:p="http://schemas.openxmlformats.org/presentationml/2006/main">
  <p:tag name="resource_record_key" val="{&quot;29&quot;:[50000047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WPS 演示</Application>
  <PresentationFormat>宽屏</PresentationFormat>
  <Paragraphs>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WPS</vt:lpstr>
      <vt:lpstr>基因数据管理系统</vt:lpstr>
      <vt:lpstr>完善计划清单</vt:lpstr>
      <vt:lpstr>Job1-原始数据分级（基于genome.fasta）</vt:lpstr>
      <vt:lpstr>Job2-新增 Sequencing data 列</vt:lpstr>
      <vt:lpstr>Job3:Genome Card页面开发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张晓兵</cp:lastModifiedBy>
  <cp:revision>10</cp:revision>
  <dcterms:created xsi:type="dcterms:W3CDTF">2023-08-09T12:44:00Z</dcterms:created>
  <dcterms:modified xsi:type="dcterms:W3CDTF">2025-07-04T13:49:45Z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776CF2D8C1974A31BFB124674F7344C6_12</vt:lpwstr>
  </property>
</Properties>
</file>